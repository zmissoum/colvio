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5" name="Text 3"/>
          <p:cNvSpPr/>
          <p:nvPr/>
        </p:nvSpPr>
        <p:spPr>
          <a:xfrm>
            <a:off x="3931920" y="914400"/>
            <a:ext cx="1280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66FF"/>
                </a:solidFill>
              </a:rPr>
              <a:t>⚡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Colvio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24688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Dataverse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0" y="3017520"/>
            <a:ext cx="2743200" cy="9144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Walkthrough — v1.6 Feature Guide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4400" y="3657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 Extension for Microsoft Dynamics 365 / Dataverse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1.6 — 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configuration — no API keys, no app registration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200400" cy="2011680"/>
          </a:xfrm>
          <a:prstGeom prst="rect">
            <a:avLst/>
          </a:prstGeom>
          <a:solidFill>
            <a:srgbClr val="F0F4FF"/>
          </a:solidFill>
          <a:ln w="19050">
            <a:solidFill>
              <a:srgbClr val="0E74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57200" y="146304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A — D365 Page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20240"/>
            <a:ext cx="2834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content.js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Runs in D365 page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fetch() with Azure AD cookies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Dataverse Web API v9.2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749040" y="201168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66FF"/>
                </a:solidFill>
              </a:rPr>
              <a:t>⟷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474720" y="256032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background.js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4720" y="2788920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relay messages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0" y="1463040"/>
            <a:ext cx="4114800" cy="2011680"/>
          </a:xfrm>
          <a:prstGeom prst="rect">
            <a:avLst/>
          </a:prstGeom>
          <a:solidFill>
            <a:srgbClr val="FFF7ED"/>
          </a:solidFill>
          <a:ln w="19050">
            <a:solidFill>
              <a:srgbClr val="006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72000" y="14630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 B — Colvio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54880" y="1920240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 App (full screen)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Data Explorer + Query Builder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Show All Data • Metadata Browser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</a:rPr>
              <a:t>• Login History • Data Loader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720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5720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Explorer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 &amp; Export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19456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19456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📋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19456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All Data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19456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Inspector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93192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93192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93192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Metadata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93192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Entities &amp; Fields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66928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66928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🕐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566928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History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66928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Timeline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406640" y="3840480"/>
            <a:ext cx="1554480" cy="1005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7406640" y="388620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📥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7406640" y="42519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Loader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06640" y="4480560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Import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Explorer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0" y="457200"/>
            <a:ext cx="1828800" cy="448056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4" name="Text 2"/>
          <p:cNvSpPr/>
          <p:nvPr/>
        </p:nvSpPr>
        <p:spPr>
          <a:xfrm>
            <a:off x="91440" y="502920"/>
            <a:ext cx="1645920" cy="27432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Search entities...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" y="868680"/>
            <a:ext cx="1737360" cy="274320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" y="8686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" y="118872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" y="11887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" y="150876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" y="150876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" y="182880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" y="18288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" y="214884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4" name="Text 12"/>
          <p:cNvSpPr/>
          <p:nvPr/>
        </p:nvSpPr>
        <p:spPr>
          <a:xfrm>
            <a:off x="137160" y="214884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" y="246888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" y="24688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" y="2788920"/>
            <a:ext cx="173736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7160" y="278892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SystemUser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1440" y="685800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</a:rPr>
              <a:t>1595 entities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1920240" y="457200"/>
            <a:ext cx="7132320" cy="16459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21" name="Text 19"/>
          <p:cNvSpPr/>
          <p:nvPr/>
        </p:nvSpPr>
        <p:spPr>
          <a:xfrm>
            <a:off x="2011680" y="50292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Account  account  164 fields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011680" y="77724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274320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×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84048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26" name="Text 24"/>
          <p:cNvSpPr/>
          <p:nvPr/>
        </p:nvSpPr>
        <p:spPr>
          <a:xfrm>
            <a:off x="384048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 ×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493776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28" name="Text 26"/>
          <p:cNvSpPr/>
          <p:nvPr/>
        </p:nvSpPr>
        <p:spPr>
          <a:xfrm>
            <a:off x="493776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 ×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6035040" y="758952"/>
            <a:ext cx="1005840" cy="219456"/>
          </a:xfrm>
          <a:prstGeom prst="rect">
            <a:avLst/>
          </a:prstGeom>
          <a:solidFill>
            <a:srgbClr val="003380"/>
          </a:solidFill>
          <a:ln/>
        </p:spPr>
      </p:sp>
      <p:sp>
        <p:nvSpPr>
          <p:cNvPr id="30" name="Text 28"/>
          <p:cNvSpPr/>
          <p:nvPr/>
        </p:nvSpPr>
        <p:spPr>
          <a:xfrm>
            <a:off x="6035040" y="758952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C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 ×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7040880" y="758952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Fields (4/164)   All   None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011680" y="10515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743200" y="1033272"/>
            <a:ext cx="137160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0" y="1033272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4206240" y="1033272"/>
            <a:ext cx="64008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6" name="Text 34"/>
          <p:cNvSpPr/>
          <p:nvPr/>
        </p:nvSpPr>
        <p:spPr>
          <a:xfrm>
            <a:off x="4206240" y="1033272"/>
            <a:ext cx="640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4937760" y="1033272"/>
            <a:ext cx="73152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8" name="Text 36"/>
          <p:cNvSpPr/>
          <p:nvPr/>
        </p:nvSpPr>
        <p:spPr>
          <a:xfrm>
            <a:off x="4937760" y="103327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011680" y="1325880"/>
            <a:ext cx="731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EXPAND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2743200" y="1307592"/>
            <a:ext cx="4114800" cy="219456"/>
          </a:xfrm>
          <a:prstGeom prst="rect">
            <a:avLst/>
          </a:prstGeom>
          <a:solidFill>
            <a:srgbClr val="3D1F00"/>
          </a:solidFill>
          <a:ln w="6350">
            <a:solidFill>
              <a:srgbClr val="FB923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834640" y="1307592"/>
            <a:ext cx="39319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primarycontactid → contact  (fullname, emailaddress1)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011680" y="1600200"/>
            <a:ext cx="457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6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560320" y="1581912"/>
            <a:ext cx="548640" cy="219456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44" name="Text 42"/>
          <p:cNvSpPr/>
          <p:nvPr/>
        </p:nvSpPr>
        <p:spPr>
          <a:xfrm>
            <a:off x="2560320" y="1581912"/>
            <a:ext cx="548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7680960" y="1554480"/>
            <a:ext cx="1280160" cy="292608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6" name="Text 44"/>
          <p:cNvSpPr/>
          <p:nvPr/>
        </p:nvSpPr>
        <p:spPr>
          <a:xfrm>
            <a:off x="7680960" y="1554480"/>
            <a:ext cx="12801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Execute Ctrl+⏎</a:t>
            </a:r>
            <a:endParaRPr lang="en-US" sz="800" dirty="0"/>
          </a:p>
        </p:txBody>
      </p:sp>
      <p:sp>
        <p:nvSpPr>
          <p:cNvPr id="47" name="Shape 45"/>
          <p:cNvSpPr/>
          <p:nvPr/>
        </p:nvSpPr>
        <p:spPr>
          <a:xfrm>
            <a:off x="1920240" y="2148840"/>
            <a:ext cx="713232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48" name="Text 46"/>
          <p:cNvSpPr/>
          <p:nvPr/>
        </p:nvSpPr>
        <p:spPr>
          <a:xfrm>
            <a:off x="201168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247 records    live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5029200" y="21488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E8EAF0"/>
                </a:solidFill>
              </a:rPr>
              <a:t>COPY  Excel   CSV   JSON        DOWNLOAD  CSV   JSON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1965960" y="2450592"/>
            <a:ext cx="27432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1" name="Text 49"/>
          <p:cNvSpPr/>
          <p:nvPr/>
        </p:nvSpPr>
        <p:spPr>
          <a:xfrm>
            <a:off x="1965960" y="245059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2276856" y="2450592"/>
            <a:ext cx="146304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3" name="Text 51"/>
          <p:cNvSpPr/>
          <p:nvPr/>
        </p:nvSpPr>
        <p:spPr>
          <a:xfrm>
            <a:off x="2276856" y="24505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3776472" y="2450592"/>
            <a:ext cx="182880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5" name="Text 53"/>
          <p:cNvSpPr/>
          <p:nvPr/>
        </p:nvSpPr>
        <p:spPr>
          <a:xfrm>
            <a:off x="3776472" y="24505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5641848" y="2450592"/>
            <a:ext cx="82296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7" name="Text 55"/>
          <p:cNvSpPr/>
          <p:nvPr/>
        </p:nvSpPr>
        <p:spPr>
          <a:xfrm>
            <a:off x="5641848" y="245059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6501384" y="2450592"/>
            <a:ext cx="109728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59" name="Text 57"/>
          <p:cNvSpPr/>
          <p:nvPr/>
        </p:nvSpPr>
        <p:spPr>
          <a:xfrm>
            <a:off x="6501384" y="24505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7635240" y="2450592"/>
            <a:ext cx="1463040" cy="2286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61" name="Text 59"/>
          <p:cNvSpPr/>
          <p:nvPr/>
        </p:nvSpPr>
        <p:spPr>
          <a:xfrm>
            <a:off x="7635240" y="24505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contact.fullname</a:t>
            </a:r>
            <a:endParaRPr lang="en-US" sz="700" dirty="0"/>
          </a:p>
        </p:txBody>
      </p:sp>
      <p:sp>
        <p:nvSpPr>
          <p:cNvPr id="62" name="Text 60"/>
          <p:cNvSpPr/>
          <p:nvPr/>
        </p:nvSpPr>
        <p:spPr>
          <a:xfrm>
            <a:off x="1965960" y="272491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2276856" y="27249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Contoso Ltd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3776472" y="272491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info@contoso.com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641848" y="272491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6501384" y="272491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+33612345678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7635240" y="272491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Jean Dupont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1965960" y="295351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965960" y="299923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2276856" y="299923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Fabrikam Inc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3776472" y="299923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contact@fabrikam.com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641848" y="299923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501384" y="29992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+33698765432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7635240" y="299923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Marie Martin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965960" y="322783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65960" y="327355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2276856" y="32735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Northwind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3776472" y="327355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sales@northwind.com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41848" y="327355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6501384" y="327355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+33145678900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7635240" y="327355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Pierre Durand</a:t>
            </a:r>
            <a:endParaRPr lang="en-US" sz="700" dirty="0"/>
          </a:p>
        </p:txBody>
      </p:sp>
      <p:sp>
        <p:nvSpPr>
          <p:cNvPr id="82" name="Shape 80"/>
          <p:cNvSpPr/>
          <p:nvPr/>
        </p:nvSpPr>
        <p:spPr>
          <a:xfrm>
            <a:off x="1965960" y="350215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965960" y="354787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276856" y="354787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Adventure Works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3776472" y="354787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hello@aw.com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5641848" y="354787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Inactive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6501384" y="354787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+33756781234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7635240" y="354787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1965960" y="377647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1965960" y="3822192"/>
            <a:ext cx="274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2276856" y="38221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VanArsdel Ltd</a:t>
            </a:r>
            <a:endParaRPr lang="en-US" sz="700" dirty="0"/>
          </a:p>
        </p:txBody>
      </p:sp>
      <p:sp>
        <p:nvSpPr>
          <p:cNvPr id="92" name="Text 90"/>
          <p:cNvSpPr/>
          <p:nvPr/>
        </p:nvSpPr>
        <p:spPr>
          <a:xfrm>
            <a:off x="3776472" y="3822192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support@va.com</a:t>
            </a:r>
            <a:endParaRPr lang="en-US" sz="700" dirty="0"/>
          </a:p>
        </p:txBody>
      </p:sp>
      <p:sp>
        <p:nvSpPr>
          <p:cNvPr id="93" name="Text 91"/>
          <p:cNvSpPr/>
          <p:nvPr/>
        </p:nvSpPr>
        <p:spPr>
          <a:xfrm>
            <a:off x="5641848" y="382219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6501384" y="38221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+33667891234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635240" y="3822192"/>
            <a:ext cx="1463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Sophie Bernard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1965960" y="4050792"/>
            <a:ext cx="6949440" cy="0"/>
          </a:xfrm>
          <a:prstGeom prst="line">
            <a:avLst/>
          </a:prstGeom>
          <a:noFill/>
          <a:ln w="3810">
            <a:solidFill>
              <a:srgbClr val="252A3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400800" y="137160"/>
            <a:ext cx="2651760" cy="274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8" name="Text 96"/>
          <p:cNvSpPr/>
          <p:nvPr/>
        </p:nvSpPr>
        <p:spPr>
          <a:xfrm>
            <a:off x="6400800" y="1371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Smart field picker with search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1920240" y="45720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247 records — auto-fetched all pages ✓</a:t>
            </a:r>
            <a:endParaRPr lang="en-US" sz="900" dirty="0"/>
          </a:p>
        </p:txBody>
      </p:sp>
      <p:sp>
        <p:nvSpPr>
          <p:cNvPr id="100" name="Text 98"/>
          <p:cNvSpPr/>
          <p:nvPr/>
        </p:nvSpPr>
        <p:spPr>
          <a:xfrm>
            <a:off x="5029200" y="1307592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$expand joins: parent entity columns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Picker — Smart Selection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Search, filter by type, toggle custom, bulk select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7680960" cy="3474720"/>
          </a:xfrm>
          <a:prstGeom prst="rect">
            <a:avLst/>
          </a:prstGeom>
          <a:solidFill>
            <a:srgbClr val="0B0E14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280160"/>
            <a:ext cx="4572000" cy="32004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Search a field...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0" y="12801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80"/>
                </a:solidFill>
              </a:rPr>
              <a:t>4/164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1691640"/>
            <a:ext cx="1280160" cy="274320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691640"/>
            <a:ext cx="1280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types ▼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286000" y="16916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</a:rPr>
              <a:t>☐ Custom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486400" y="16916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Select visible       - Remove visible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14400" y="20574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(4)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9144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  String  ×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7432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 String  ×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45720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  State  ×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6400800" y="2286000"/>
            <a:ext cx="1737360" cy="256032"/>
          </a:xfrm>
          <a:prstGeom prst="rect">
            <a:avLst/>
          </a:prstGeom>
          <a:solidFill>
            <a:srgbClr val="0066FF"/>
          </a:solidFill>
          <a:ln w="6350">
            <a:solidFill>
              <a:srgbClr val="0066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28600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  String  ×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914400" y="265176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 (160)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9144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accountcategorycode  Picklist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27432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accountclassificationcode  Picklist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45720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accountid  UniqueId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6400800" y="2926080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0" y="2926080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  String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9144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accountratingcode  Picklist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27432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2" name="Text 30"/>
          <p:cNvSpPr/>
          <p:nvPr/>
        </p:nvSpPr>
        <p:spPr>
          <a:xfrm>
            <a:off x="27432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address1_city  String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5720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address1_country  String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6400800" y="3218688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0" y="321868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address1_line1  String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914400" y="3511296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35112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createdby  Lookup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743200" y="3511296"/>
            <a:ext cx="1737360" cy="256032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40" name="Text 38"/>
          <p:cNvSpPr/>
          <p:nvPr/>
        </p:nvSpPr>
        <p:spPr>
          <a:xfrm>
            <a:off x="2743200" y="3511296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createdon  DateTime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914400" y="39319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color coding: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377440" y="3977640"/>
            <a:ext cx="137160" cy="137160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43" name="Text 41"/>
          <p:cNvSpPr/>
          <p:nvPr/>
        </p:nvSpPr>
        <p:spPr>
          <a:xfrm>
            <a:off x="25603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749040" y="3977640"/>
            <a:ext cx="137160" cy="13716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5" name="Text 43"/>
          <p:cNvSpPr/>
          <p:nvPr/>
        </p:nvSpPr>
        <p:spPr>
          <a:xfrm>
            <a:off x="39319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120640" y="3977640"/>
            <a:ext cx="137160" cy="1371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7" name="Text 45"/>
          <p:cNvSpPr/>
          <p:nvPr/>
        </p:nvSpPr>
        <p:spPr>
          <a:xfrm>
            <a:off x="53035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Picklist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92240" y="3977640"/>
            <a:ext cx="137160" cy="137160"/>
          </a:xfrm>
          <a:prstGeom prst="rect">
            <a:avLst/>
          </a:prstGeom>
          <a:solidFill>
            <a:srgbClr val="FB923C"/>
          </a:solidFill>
          <a:ln/>
        </p:spPr>
      </p:sp>
      <p:sp>
        <p:nvSpPr>
          <p:cNvPr id="49" name="Text 47"/>
          <p:cNvSpPr/>
          <p:nvPr/>
        </p:nvSpPr>
        <p:spPr>
          <a:xfrm>
            <a:off x="66751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DateTime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863840" y="3977640"/>
            <a:ext cx="137160" cy="137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1" name="Text 49"/>
          <p:cNvSpPr/>
          <p:nvPr/>
        </p:nvSpPr>
        <p:spPr>
          <a:xfrm>
            <a:off x="8046720" y="393192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Money/Int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All Data — Record Inspector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solidFill>
            <a:srgbClr val="1E1040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640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62179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</a:rPr>
              <a:t>Record detected from D365 tab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/ a1b2c3d4-e5f6-7890-abcd...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0" y="713232"/>
            <a:ext cx="1097280" cy="3200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0" y="713232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45720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258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📋 Account — Contoso Ltd — a1b2c3d4-e5f6-7890-abcd-1234567890ab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0" y="1325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C6380"/>
                </a:solidFill>
              </a:rPr>
              <a:t>Loaded at 14:32:05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1874520"/>
            <a:ext cx="2743200" cy="27432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</a:rPr>
              <a:t>🔍 Search...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4800" y="1874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E8EAF0"/>
                </a:solidFill>
              </a:rPr>
              <a:t>☐ Filled only    ☐ Custom only    Copy JSON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240280"/>
            <a:ext cx="20116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2402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Name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560320" y="2240280"/>
            <a:ext cx="20116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6" name="Text 14"/>
          <p:cNvSpPr/>
          <p:nvPr/>
        </p:nvSpPr>
        <p:spPr>
          <a:xfrm>
            <a:off x="2560320" y="224028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 Name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17720" y="2240280"/>
            <a:ext cx="10972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18" name="Text 16"/>
          <p:cNvSpPr/>
          <p:nvPr/>
        </p:nvSpPr>
        <p:spPr>
          <a:xfrm>
            <a:off x="4617720" y="224028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760720" y="2240280"/>
            <a:ext cx="2926080" cy="256032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2240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02920" y="25420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2560320" y="254203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Name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4617720" y="254203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760720" y="254203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Contoso Ltd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502920" y="279806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2560320" y="279806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 Number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4617720" y="279806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760720" y="2798064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ACC-00142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502920" y="305409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560320" y="305409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4617720" y="305409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760720" y="305409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502920" y="331012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emailaddress1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560320" y="3310128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4617720" y="33101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760720" y="3310128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info@contoso.com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50292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560320" y="35661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Phone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617720" y="35661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String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760720" y="356616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+33 1 45 67 89 00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502920" y="382219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createdon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560320" y="3822192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 On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617720" y="38221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DateTime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760720" y="3822192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2024-03-15T09:32:00Z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502920" y="407822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_primarycontactid_value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2560320" y="4078224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Primary Contact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617720" y="4078224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760720" y="4078224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d4e5f6a7-b8c9-...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502920" y="433425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revenue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2560320" y="4334256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Annual Revenue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617720" y="4334256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Money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760720" y="4334256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2,500,000.00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1371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🕐 Login History — Audit Timeline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4572000" cy="320040"/>
          </a:xfrm>
          <a:prstGeom prst="rect">
            <a:avLst/>
          </a:prstGeom>
          <a:solidFill>
            <a:srgbClr val="252A3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Zakaria Missoum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1188720"/>
          </a:xfrm>
          <a:prstGeom prst="rect">
            <a:avLst/>
          </a:prstGeom>
          <a:solidFill>
            <a:srgbClr val="12151C"/>
          </a:solidFill>
          <a:ln w="6350">
            <a:solidFill>
              <a:srgbClr val="252A3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188720"/>
            <a:ext cx="640080" cy="64008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1188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Zakaria Missoum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41732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zakaria@demo.com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65176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3" name="Text 11"/>
          <p:cNvSpPr/>
          <p:nvPr/>
        </p:nvSpPr>
        <p:spPr>
          <a:xfrm>
            <a:off x="265176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Days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Mar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57784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Login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675120" y="1783080"/>
            <a:ext cx="1828800" cy="411480"/>
          </a:xfrm>
          <a:prstGeom prst="rect">
            <a:avLst/>
          </a:prstGeom>
          <a:solidFill>
            <a:srgbClr val="0B0E14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Feb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589520" y="178308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Oldest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57200" y="2468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Friday 14 March 2026 (6 events)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2788920"/>
            <a:ext cx="0" cy="1828800"/>
          </a:xfrm>
          <a:prstGeom prst="line">
            <a:avLst/>
          </a:prstGeom>
          <a:noFill/>
          <a:ln w="25400">
            <a:solidFill>
              <a:srgbClr val="252A3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283464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78892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09:14:32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828800" y="2807208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1828800" y="280720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94360" y="3136392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3090672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09:15:01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828800" y="3108960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0" name="Text 28"/>
          <p:cNvSpPr/>
          <p:nvPr/>
        </p:nvSpPr>
        <p:spPr>
          <a:xfrm>
            <a:off x="1828800" y="3108960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594360" y="3438144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3392424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12:30:45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828800" y="3410712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4" name="Text 32"/>
          <p:cNvSpPr/>
          <p:nvPr/>
        </p:nvSpPr>
        <p:spPr>
          <a:xfrm>
            <a:off x="1828800" y="3410712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Logout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594360" y="3739896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3694176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14:02:11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828800" y="3712464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8" name="Text 36"/>
          <p:cNvSpPr/>
          <p:nvPr/>
        </p:nvSpPr>
        <p:spPr>
          <a:xfrm>
            <a:off x="1828800" y="3712464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594360" y="4041648"/>
            <a:ext cx="128016" cy="128016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40" name="Text 38"/>
          <p:cNvSpPr/>
          <p:nvPr/>
        </p:nvSpPr>
        <p:spPr>
          <a:xfrm>
            <a:off x="914400" y="3995928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17:45:22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828800" y="4014216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2" name="Text 40"/>
          <p:cNvSpPr/>
          <p:nvPr/>
        </p:nvSpPr>
        <p:spPr>
          <a:xfrm>
            <a:off x="1828800" y="4014216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Logout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594360" y="4343400"/>
            <a:ext cx="128016" cy="128016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44" name="Text 42"/>
          <p:cNvSpPr/>
          <p:nvPr/>
        </p:nvSpPr>
        <p:spPr>
          <a:xfrm>
            <a:off x="914400" y="429768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18:30:00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28800" y="4315968"/>
            <a:ext cx="548640" cy="182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6" name="Text 44"/>
          <p:cNvSpPr/>
          <p:nvPr/>
        </p:nvSpPr>
        <p:spPr>
          <a:xfrm>
            <a:off x="1828800" y="4315968"/>
            <a:ext cx="548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Loader — 5-Step Wizard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📄 Source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103120" y="1188720"/>
            <a:ext cx="182880" cy="0"/>
          </a:xfrm>
          <a:prstGeom prst="line">
            <a:avLst/>
          </a:prstGeom>
          <a:noFill/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1005840"/>
            <a:ext cx="1554480" cy="365760"/>
          </a:xfrm>
          <a:prstGeom prst="rect">
            <a:avLst/>
          </a:prstGeom>
          <a:solidFill>
            <a:srgbClr val="0066FF"/>
          </a:solidFill>
          <a:ln w="12700">
            <a:solidFill>
              <a:srgbClr val="0066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9456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🔗 Mapping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840480" y="1188720"/>
            <a:ext cx="1828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3192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Lookups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577840" y="1188720"/>
            <a:ext cx="1828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66928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👁 Preview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1188720"/>
            <a:ext cx="182880" cy="0"/>
          </a:xfrm>
          <a:prstGeom prst="line">
            <a:avLst/>
          </a:prstGeom>
          <a:noFill/>
          <a:ln w="12700">
            <a:solidFill>
              <a:srgbClr val="D1D5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06640" y="1005840"/>
            <a:ext cx="1554480" cy="365760"/>
          </a:xfrm>
          <a:prstGeom prst="rect">
            <a:avLst/>
          </a:prstGeom>
          <a:solidFill>
            <a:srgbClr val="F3F4F6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0" y="1005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Run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554480"/>
            <a:ext cx="8229600" cy="3200400"/>
          </a:xfrm>
          <a:prstGeom prst="rect">
            <a:avLst/>
          </a:prstGeom>
          <a:solidFill>
            <a:srgbClr val="0B0E14"/>
          </a:solidFill>
          <a:ln/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" y="164592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AF0"/>
                </a:solidFill>
              </a:rPr>
              <a:t>Target entity: Account (account)     Mode: ● CREATE  ○ UPSERT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2011680"/>
            <a:ext cx="7863840" cy="274320"/>
          </a:xfrm>
          <a:prstGeom prst="rect">
            <a:avLst/>
          </a:prstGeom>
          <a:solidFill>
            <a:srgbClr val="12151C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2011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Column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51760" y="20116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3108960" y="2011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D365 Field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029200" y="20116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766560" y="2011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73152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651760" y="233172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10896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029200" y="233172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766560" y="233172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Contoso Ltd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3152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651760" y="260604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10896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accountnumber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29200" y="260604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6766560" y="26060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ACC-001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31520" y="2880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651760" y="288036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3108960" y="2880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telephone1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029200" y="288036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766560" y="2880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+33612345678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73152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2651760" y="315468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⚙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10896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statecode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5029200" y="315468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statecode (Active→0)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766560" y="315468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A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3152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E74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createdon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51760" y="3429000"/>
            <a:ext cx="365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⚠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310896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(ignored)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5029200" y="3429000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766560" y="342900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C63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2024-01-15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457200" y="4160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Mapped   </a:t>
            </a:r>
            <a:pPr indent="0" marL="0">
              <a:buNone/>
            </a:pPr>
            <a:r>
              <a:rPr lang="en-US" sz="10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Needs transform   </a:t>
            </a:r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</a:t>
            </a:r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System (auto-ignored)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&amp; Copy Options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all loaded records — including background-fetched pages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7680960" cy="594360"/>
          </a:xfrm>
          <a:prstGeom prst="rect">
            <a:avLst/>
          </a:prstGeom>
          <a:solidFill>
            <a:srgbClr val="EFF6FF"/>
          </a:solidFill>
          <a:ln w="12700">
            <a:solidFill>
              <a:srgbClr val="0E74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3258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3258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→ Excel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840480" y="13258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TSV format  •  Paste directly into Excel  •  or Google Sheets (Ctrl+V)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1965960"/>
            <a:ext cx="768096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20116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📄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645920" y="20116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→ CSV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2011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Comma-separated  •  Copy to clipboard  •  Paste in text editors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51760"/>
            <a:ext cx="7680960" cy="594360"/>
          </a:xfrm>
          <a:prstGeom prst="rect">
            <a:avLst/>
          </a:prstGeom>
          <a:solidFill>
            <a:srgbClr val="FFF7ED"/>
          </a:solidFill>
          <a:ln w="12700">
            <a:solidFill>
              <a:srgbClr val="FB923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26974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{ }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645920" y="26974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→ JSON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40480" y="26974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Array of objects  •  Formatted JSON  •  For developers / Postman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" y="3337560"/>
            <a:ext cx="7680960" cy="594360"/>
          </a:xfrm>
          <a:prstGeom prst="rect">
            <a:avLst/>
          </a:prstGeom>
          <a:solidFill>
            <a:srgbClr val="FDF2F8"/>
          </a:solidFill>
          <a:ln w="12700">
            <a:solidFill>
              <a:srgbClr val="EC48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33832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⬇️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33832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CSV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840480" y="33832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UTF-8 BOM file  •  Accents preserved  •  Email / archive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023360"/>
            <a:ext cx="7680960" cy="594360"/>
          </a:xfrm>
          <a:prstGeom prst="rect">
            <a:avLst/>
          </a:prstGeom>
          <a:solidFill>
            <a:srgbClr val="FAF5FF"/>
          </a:solidFill>
          <a:ln w="12700">
            <a:solidFill>
              <a:srgbClr val="0066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069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⬇️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645920" y="4069080"/>
            <a:ext cx="2011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JSON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840480" y="40690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JSON file  •  All records included  •  Integration-ready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 &amp; Shortcuts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Shortcut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Action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Context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Ctrl + Enter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Execute query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Data Explorer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Click on cell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Copy value to clipboard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Results table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F5 (on D365 tab)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Refresh expired session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When 401 error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⚡ icon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Open Inspector in new tab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</a:rPr>
                        <a:t>Chrome toolbar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27432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💡  Select no fields = D365 returns all fields (no $select). Useful for first exploration.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315468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1546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Auto-detect: Open a record in D365, then click ⚡ → Show All Data → record loads automatically.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5661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Exports include ALL loaded records, not just visible. Wait for 'loading complete' before exporting.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97764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Use the 'statecode' transform to convert labels (Active/Inactive) to integers (0/1) for Data Loader.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43891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$expand: Search within expand cards to find fields. systemuser → search 'fullname'.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4" name="Text 2"/>
          <p:cNvSpPr/>
          <p:nvPr/>
        </p:nvSpPr>
        <p:spPr>
          <a:xfrm>
            <a:off x="3931920" y="1371600"/>
            <a:ext cx="1280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dirty="0">
                <a:solidFill>
                  <a:srgbClr val="0066FF"/>
                </a:solidFill>
              </a:rPr>
              <a:t>⚡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914400" y="21031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Colvio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E7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Dataverse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200400" y="3291840"/>
            <a:ext cx="2743200" cy="9144"/>
          </a:xfrm>
          <a:prstGeom prst="rect">
            <a:avLst/>
          </a:prstGeom>
          <a:solidFill>
            <a:srgbClr val="252A36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74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github.com/zmissoum/colvio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 → github.com/zmissoum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Colvio — Product Walkthrough</dc:title>
  <dc:subject>PptxGenJS Presentation</dc:subject>
  <dc:creator>Zakaria Missoum</dc:creator>
  <cp:lastModifiedBy>Zakaria Missoum</cp:lastModifiedBy>
  <cp:revision>1</cp:revision>
  <dcterms:created xsi:type="dcterms:W3CDTF">2026-03-23T19:27:25Z</dcterms:created>
  <dcterms:modified xsi:type="dcterms:W3CDTF">2026-03-23T19:27:25Z</dcterms:modified>
</cp:coreProperties>
</file>